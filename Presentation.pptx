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83" r:id="rId2"/>
    <p:sldId id="257" r:id="rId3"/>
    <p:sldId id="282" r:id="rId4"/>
    <p:sldId id="284" r:id="rId5"/>
    <p:sldId id="285" r:id="rId6"/>
    <p:sldId id="281" r:id="rId7"/>
    <p:sldId id="279" r:id="rId8"/>
    <p:sldId id="262" r:id="rId9"/>
    <p:sldId id="264" r:id="rId10"/>
    <p:sldId id="278" r:id="rId11"/>
    <p:sldId id="286" r:id="rId12"/>
    <p:sldId id="277" r:id="rId13"/>
    <p:sldId id="280" r:id="rId14"/>
    <p:sldId id="287" r:id="rId15"/>
    <p:sldId id="276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DD2625-5943-48EE-B75F-5A3809E3EFAA}" v="2" dt="2026-06-05T13:41:13.796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86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ma Nakka" userId="8395db523b98afe6" providerId="LiveId" clId="{44BCF09D-F365-47EF-B5DD-92EC693F494C}"/>
    <pc:docChg chg="custSel addSld modSld">
      <pc:chgData name="Uma Nakka" userId="8395db523b98afe6" providerId="LiveId" clId="{44BCF09D-F365-47EF-B5DD-92EC693F494C}" dt="2026-06-05T13:42:38.361" v="17" actId="14100"/>
      <pc:docMkLst>
        <pc:docMk/>
      </pc:docMkLst>
      <pc:sldChg chg="addSp modSp new mod">
        <pc:chgData name="Uma Nakka" userId="8395db523b98afe6" providerId="LiveId" clId="{44BCF09D-F365-47EF-B5DD-92EC693F494C}" dt="2026-06-05T13:42:38.361" v="17" actId="14100"/>
        <pc:sldMkLst>
          <pc:docMk/>
          <pc:sldMk cId="2809025900" sldId="287"/>
        </pc:sldMkLst>
        <pc:spChg chg="mod">
          <ac:chgData name="Uma Nakka" userId="8395db523b98afe6" providerId="LiveId" clId="{44BCF09D-F365-47EF-B5DD-92EC693F494C}" dt="2026-06-05T13:40:55.596" v="6" actId="255"/>
          <ac:spMkLst>
            <pc:docMk/>
            <pc:sldMk cId="2809025900" sldId="287"/>
            <ac:spMk id="2" creationId="{BEDC97FA-4930-D50F-B505-7E4DACC91B72}"/>
          </ac:spMkLst>
        </pc:spChg>
        <pc:spChg chg="mod">
          <ac:chgData name="Uma Nakka" userId="8395db523b98afe6" providerId="LiveId" clId="{44BCF09D-F365-47EF-B5DD-92EC693F494C}" dt="2026-06-05T13:41:33.565" v="10" actId="20577"/>
          <ac:spMkLst>
            <pc:docMk/>
            <pc:sldMk cId="2809025900" sldId="287"/>
            <ac:spMk id="3" creationId="{73DCFCF2-FB23-7191-E4A5-217BF58B618C}"/>
          </ac:spMkLst>
        </pc:spChg>
        <pc:picChg chg="add mod">
          <ac:chgData name="Uma Nakka" userId="8395db523b98afe6" providerId="LiveId" clId="{44BCF09D-F365-47EF-B5DD-92EC693F494C}" dt="2026-06-05T13:42:38.361" v="17" actId="14100"/>
          <ac:picMkLst>
            <pc:docMk/>
            <pc:sldMk cId="2809025900" sldId="287"/>
            <ac:picMk id="5" creationId="{95EADF31-B1A9-D137-5ECE-249978300A8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325443123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            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      </a:t>
                      </a:r>
                      <a:r>
                        <a:rPr lang="en-US" sz="1600" b="1" dirty="0"/>
                        <a:t>Uma Nakka                             </a:t>
                      </a:r>
                      <a:endParaRPr sz="16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/>
                        <a:t>nakkauma828@gmail.com</a:t>
                      </a:r>
                      <a:endParaRPr sz="14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/>
                        <a:t>         8978206337</a:t>
                      </a:r>
                      <a:endParaRPr sz="14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Education and Career Development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800963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Title – Interview Trainer Agent</a:t>
            </a: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8499A0-9D9D-852A-F3BD-7363A241F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923" y="3598607"/>
            <a:ext cx="1504336" cy="11688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493382" y="934920"/>
            <a:ext cx="1060704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dirty="0"/>
          </a:p>
          <a:p>
            <a:pPr fontAlgn="base"/>
            <a:r>
              <a:rPr lang="en-US" b="1" dirty="0"/>
              <a:t>The Challenge</a:t>
            </a:r>
            <a:r>
              <a:rPr lang="en-US" dirty="0"/>
              <a:t> </a:t>
            </a:r>
          </a:p>
          <a:p>
            <a:pPr fontAlgn="base"/>
            <a:r>
              <a:rPr lang="en-IN" dirty="0"/>
              <a:t>Interview preparation remains a significant challenge for students and job seekers due to the lack of structured guidance, personalized learning strategies, and realistic practice opportunities. Candidates often struggle to identify role-specific requirements, assess their preparedness, and improve their interview performance effectively. As a result, many qualified individuals fail to demonstrate their full potential during recruitment processes.</a:t>
            </a:r>
          </a:p>
          <a:p>
            <a:pPr fontAlgn="base"/>
            <a:endParaRPr lang="en-US" dirty="0"/>
          </a:p>
          <a:p>
            <a:pPr fontAlgn="base"/>
            <a:r>
              <a:rPr lang="en-US" b="1" dirty="0"/>
              <a:t>The Objective</a:t>
            </a:r>
            <a:r>
              <a:rPr lang="en-US" dirty="0"/>
              <a:t> </a:t>
            </a:r>
          </a:p>
          <a:p>
            <a:r>
              <a:rPr lang="en-IN" dirty="0"/>
              <a:t>Develop an AI-powered Interview Trainer Agent that provides personalized and interactive interview preparation support for students and professionals.</a:t>
            </a:r>
          </a:p>
          <a:p>
            <a:r>
              <a:rPr lang="en-IN" dirty="0"/>
              <a:t>The solution should: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Personalized Learning Roadmaps</a:t>
            </a:r>
            <a:r>
              <a:rPr lang="en-IN" dirty="0"/>
              <a:t> – Create customized interview preparation plans based on the user's target role, skills, and experience level.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Interview Topic Recommendations</a:t>
            </a:r>
            <a:r>
              <a:rPr lang="en-IN" dirty="0"/>
              <a:t> – Identify important concepts and topics that require focused revision.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Technical Interview Preparation</a:t>
            </a:r>
            <a:r>
              <a:rPr lang="en-IN" dirty="0"/>
              <a:t> – Provide domain-specific guidance for Python, Java, Frontend Development, AI, Data Analytics, and Software Engineering roles.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Coding Practice Support</a:t>
            </a:r>
            <a:r>
              <a:rPr lang="en-IN" dirty="0"/>
              <a:t> – Recommend relevant coding problems, DSA concepts, and technical exercises.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HR &amp; </a:t>
            </a:r>
            <a:r>
              <a:rPr lang="en-IN" b="1" dirty="0" err="1"/>
              <a:t>Behavioral</a:t>
            </a:r>
            <a:r>
              <a:rPr lang="en-IN" b="1" dirty="0"/>
              <a:t> Interview Guidance</a:t>
            </a:r>
            <a:r>
              <a:rPr lang="en-IN" dirty="0"/>
              <a:t> – Assist users in preparing for communication, </a:t>
            </a:r>
            <a:r>
              <a:rPr lang="en-IN" dirty="0" err="1"/>
              <a:t>behavioral</a:t>
            </a:r>
            <a:r>
              <a:rPr lang="en-IN" dirty="0"/>
              <a:t>, and situational interview questions.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Interactive Mock Interviews</a:t>
            </a:r>
            <a:r>
              <a:rPr lang="en-IN" dirty="0"/>
              <a:t> – Conduct realistic interview sessions with step-by-step questioning and response evaluation.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Performance Feedback</a:t>
            </a:r>
            <a:r>
              <a:rPr lang="en-IN" dirty="0"/>
              <a:t> – </a:t>
            </a:r>
            <a:r>
              <a:rPr lang="en-IN" dirty="0" err="1"/>
              <a:t>Analyze</a:t>
            </a:r>
            <a:r>
              <a:rPr lang="en-IN" dirty="0"/>
              <a:t> responses and provide actionable improvement suggestions.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Career Development Assistance</a:t>
            </a:r>
            <a:r>
              <a:rPr lang="en-IN" dirty="0"/>
              <a:t> – Offer learning recommendations and interview preparation strategies aligned with career goals.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Context-Aware Guidance</a:t>
            </a:r>
            <a:r>
              <a:rPr lang="en-IN" dirty="0"/>
              <a:t> – Utilize conversation history to deliver personalized and continuous support.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Domain-Focused Intelligence</a:t>
            </a:r>
            <a:r>
              <a:rPr lang="en-IN" dirty="0"/>
              <a:t> – Remain dedicated to interview preparation and career-related guidance</a:t>
            </a:r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383458"/>
            <a:ext cx="7506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– Interview Trainer Agent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576072" y="1165753"/>
            <a:ext cx="1060704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• </a:t>
            </a:r>
            <a:r>
              <a:rPr lang="en-IN" b="1" dirty="0" err="1"/>
              <a:t>LangFlow</a:t>
            </a:r>
            <a:r>
              <a:rPr lang="en-IN" b="1" dirty="0"/>
              <a:t> </a:t>
            </a:r>
            <a:r>
              <a:rPr lang="en-IN" dirty="0"/>
              <a:t>– Visual framework used to design and manage the AI agent workflow.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• IBM watsonx.ai </a:t>
            </a:r>
            <a:r>
              <a:rPr lang="en-IN" dirty="0"/>
              <a:t>– AI platform used to access and deploy foundation models.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• IBM Granite 8B Code Instruct </a:t>
            </a:r>
            <a:r>
              <a:rPr lang="en-IN" dirty="0"/>
              <a:t>– Foundation model used for generating interview guidance, mock interview questions, and personalized preparation plans.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• Message History Component </a:t>
            </a:r>
            <a:r>
              <a:rPr lang="en-IN" dirty="0"/>
              <a:t>– Maintains conversation context to provide personalized and continuous support.</a:t>
            </a:r>
          </a:p>
          <a:p>
            <a:pPr>
              <a:lnSpc>
                <a:spcPct val="150000"/>
              </a:lnSpc>
            </a:pPr>
            <a:r>
              <a:rPr lang="en-IN" b="1" dirty="0"/>
              <a:t>• IBM Cloud </a:t>
            </a:r>
            <a:r>
              <a:rPr lang="en-IN" dirty="0"/>
              <a:t>– Cloud platform used for hosting and managing AI services.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GitHub</a:t>
            </a:r>
            <a:r>
              <a:rPr lang="en-IN" dirty="0"/>
              <a:t> – Used for version control, project management, and code repository maintenance.</a:t>
            </a:r>
          </a:p>
          <a:p>
            <a:pPr>
              <a:lnSpc>
                <a:spcPct val="150000"/>
              </a:lnSpc>
            </a:pPr>
            <a:endParaRPr lang="en-IN" b="1" dirty="0"/>
          </a:p>
          <a:p>
            <a:pPr>
              <a:lnSpc>
                <a:spcPct val="150000"/>
              </a:lnSpc>
            </a:pPr>
            <a:r>
              <a:rPr lang="en-IN" b="1" dirty="0"/>
              <a:t>Tech Stack (Mandatory)</a:t>
            </a:r>
          </a:p>
          <a:p>
            <a:pPr>
              <a:lnSpc>
                <a:spcPct val="150000"/>
              </a:lnSpc>
            </a:pPr>
            <a:r>
              <a:rPr lang="en-IN" dirty="0"/>
              <a:t>I used:</a:t>
            </a:r>
          </a:p>
          <a:p>
            <a:pPr>
              <a:lnSpc>
                <a:spcPct val="150000"/>
              </a:lnSpc>
            </a:pPr>
            <a:r>
              <a:rPr lang="en-IN" dirty="0" err="1"/>
              <a:t>LangFlow</a:t>
            </a:r>
            <a:r>
              <a:rPr lang="en-IN" dirty="0"/>
              <a:t> + IBM watsonx.ai + IBM Granite Models</a:t>
            </a:r>
          </a:p>
          <a:p>
            <a:pPr>
              <a:lnSpc>
                <a:spcPct val="150000"/>
              </a:lnSpc>
            </a:pPr>
            <a:endParaRPr lang="en-IN" dirty="0"/>
          </a:p>
          <a:p>
            <a:pPr fontAlgn="base"/>
            <a:endParaRPr lang="en-IN" dirty="0">
              <a:highlight>
                <a:srgbClr val="FFFF00"/>
              </a:highlight>
            </a:endParaRPr>
          </a:p>
          <a:p>
            <a:pPr fontAlgn="base"/>
            <a:endParaRPr lang="en-IN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IN" dirty="0"/>
          </a:p>
          <a:p>
            <a:pPr fontAlgn="base"/>
            <a:endParaRPr lang="en-IN" dirty="0"/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dirty="0"/>
              <a:t>The proposed solution is an </a:t>
            </a:r>
            <a:r>
              <a:rPr lang="en-IN" b="1" dirty="0"/>
              <a:t>AI-powered Interview Trainer Agent</a:t>
            </a:r>
            <a:r>
              <a:rPr lang="en-IN" dirty="0"/>
              <a:t> designed to support students and job seekers throughout their interview preparation journey. Developed using </a:t>
            </a:r>
            <a:r>
              <a:rPr lang="en-IN" b="1" dirty="0" err="1"/>
              <a:t>LangFlow</a:t>
            </a:r>
            <a:r>
              <a:rPr lang="en-IN" dirty="0"/>
              <a:t>, </a:t>
            </a:r>
            <a:r>
              <a:rPr lang="en-IN" b="1" dirty="0"/>
              <a:t>IBM watsonx.ai</a:t>
            </a:r>
            <a:r>
              <a:rPr lang="en-IN" dirty="0"/>
              <a:t>, and </a:t>
            </a:r>
            <a:r>
              <a:rPr lang="en-IN" b="1" dirty="0"/>
              <a:t>IBM Granite 8B Code Instruct</a:t>
            </a:r>
            <a:r>
              <a:rPr lang="en-IN" dirty="0"/>
              <a:t>, the system provides intelligent, personalized, and role-oriented interview guidance.</a:t>
            </a:r>
          </a:p>
          <a:p>
            <a:pPr>
              <a:lnSpc>
                <a:spcPct val="150000"/>
              </a:lnSpc>
            </a:pPr>
            <a:r>
              <a:rPr lang="en-IN" dirty="0"/>
              <a:t>The agent </a:t>
            </a:r>
            <a:r>
              <a:rPr lang="en-IN" dirty="0" err="1"/>
              <a:t>analyzes</a:t>
            </a:r>
            <a:r>
              <a:rPr lang="en-IN" dirty="0"/>
              <a:t> </a:t>
            </a:r>
            <a:r>
              <a:rPr lang="en-IN" b="1" dirty="0"/>
              <a:t>user requirements</a:t>
            </a:r>
            <a:r>
              <a:rPr lang="en-IN" dirty="0"/>
              <a:t>, </a:t>
            </a:r>
            <a:r>
              <a:rPr lang="en-IN" b="1" dirty="0"/>
              <a:t>career objectives</a:t>
            </a:r>
            <a:r>
              <a:rPr lang="en-IN" dirty="0"/>
              <a:t>, and </a:t>
            </a:r>
            <a:r>
              <a:rPr lang="en-IN" b="1" dirty="0"/>
              <a:t>target job roles</a:t>
            </a:r>
            <a:r>
              <a:rPr lang="en-IN" dirty="0"/>
              <a:t> to create customized preparation strategies. It assists users by identifying key interview topics, recommending learning paths, providing technical and </a:t>
            </a:r>
            <a:r>
              <a:rPr lang="en-IN" dirty="0" err="1"/>
              <a:t>behavioral</a:t>
            </a:r>
            <a:r>
              <a:rPr lang="en-IN" dirty="0"/>
              <a:t> interview guidance, and facilitating structured </a:t>
            </a:r>
            <a:r>
              <a:rPr lang="en-IN" b="1" dirty="0"/>
              <a:t>mock interview sessions</a:t>
            </a:r>
            <a:r>
              <a:rPr lang="en-IN" dirty="0"/>
              <a:t>.</a:t>
            </a:r>
          </a:p>
          <a:p>
            <a:pPr>
              <a:lnSpc>
                <a:spcPct val="150000"/>
              </a:lnSpc>
            </a:pPr>
            <a:r>
              <a:rPr lang="en-IN" dirty="0"/>
              <a:t>By leveraging </a:t>
            </a:r>
            <a:r>
              <a:rPr lang="en-IN" b="1" dirty="0"/>
              <a:t>contextual memory</a:t>
            </a:r>
            <a:r>
              <a:rPr lang="en-IN" dirty="0"/>
              <a:t> and </a:t>
            </a:r>
            <a:r>
              <a:rPr lang="en-IN" b="1" dirty="0"/>
              <a:t>conversational intelligence</a:t>
            </a:r>
            <a:r>
              <a:rPr lang="en-IN" dirty="0"/>
              <a:t>, the system continuously adapts its recommendations based on user interactions and progress. This enables a more personalized and engaging preparation experience compared to traditional learning resources.</a:t>
            </a:r>
          </a:p>
          <a:p>
            <a:pPr>
              <a:lnSpc>
                <a:spcPct val="150000"/>
              </a:lnSpc>
            </a:pPr>
            <a:r>
              <a:rPr lang="en-IN" dirty="0"/>
              <a:t>The Interview Trainer Agent serves as a </a:t>
            </a:r>
            <a:r>
              <a:rPr lang="en-IN" b="1" dirty="0"/>
              <a:t>virtual career mentor</a:t>
            </a:r>
            <a:r>
              <a:rPr lang="en-IN" dirty="0"/>
              <a:t> that helps users strengthen </a:t>
            </a:r>
            <a:r>
              <a:rPr lang="en-IN" b="1" dirty="0"/>
              <a:t>technical expertise</a:t>
            </a:r>
            <a:r>
              <a:rPr lang="en-IN" dirty="0"/>
              <a:t>, enhance </a:t>
            </a:r>
            <a:r>
              <a:rPr lang="en-IN" b="1" dirty="0"/>
              <a:t>communication skills</a:t>
            </a:r>
            <a:r>
              <a:rPr lang="en-IN" dirty="0"/>
              <a:t>, improve </a:t>
            </a:r>
            <a:r>
              <a:rPr lang="en-IN" b="1" dirty="0"/>
              <a:t>problem-solving abilities</a:t>
            </a:r>
            <a:r>
              <a:rPr lang="en-IN" dirty="0"/>
              <a:t>, and build confidence for </a:t>
            </a:r>
            <a:r>
              <a:rPr lang="en-IN" b="1" dirty="0"/>
              <a:t>real-world interview scenarios</a:t>
            </a:r>
            <a:r>
              <a:rPr lang="en-IN" dirty="0"/>
              <a:t>. Through </a:t>
            </a:r>
            <a:r>
              <a:rPr lang="en-IN" b="1" dirty="0"/>
              <a:t>AI-driven guidance</a:t>
            </a:r>
            <a:r>
              <a:rPr lang="en-IN" dirty="0"/>
              <a:t> and </a:t>
            </a:r>
            <a:r>
              <a:rPr lang="en-IN" b="1" dirty="0"/>
              <a:t>continuous feedback</a:t>
            </a:r>
            <a:r>
              <a:rPr lang="en-IN" dirty="0"/>
              <a:t>, the platform promotes effective preparation and improved </a:t>
            </a:r>
            <a:r>
              <a:rPr lang="en-IN" b="1" dirty="0"/>
              <a:t>interview readiness</a:t>
            </a:r>
            <a:r>
              <a:rPr lang="en-IN" dirty="0"/>
              <a:t>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Solution: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component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lnSpc>
                <a:spcPct val="150000"/>
              </a:lnSpc>
            </a:pPr>
            <a:endParaRPr lang="en-IN" dirty="0"/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Chat Input</a:t>
            </a:r>
            <a:r>
              <a:rPr lang="en-IN" dirty="0"/>
              <a:t> – Accepts interview-related queries and user responses.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Message History</a:t>
            </a:r>
            <a:r>
              <a:rPr lang="en-IN" dirty="0"/>
              <a:t> – Maintains conversation context and enables personalized interview guidance.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IBM watsonx.ai Component</a:t>
            </a:r>
            <a:r>
              <a:rPr lang="en-IN" dirty="0"/>
              <a:t> – Connects </a:t>
            </a:r>
            <a:r>
              <a:rPr lang="en-IN" dirty="0" err="1"/>
              <a:t>LangFlow</a:t>
            </a:r>
            <a:r>
              <a:rPr lang="en-IN" dirty="0"/>
              <a:t> with IBM watsonx.ai foundation models.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IBM Granite 8B Code Instruct</a:t>
            </a:r>
            <a:r>
              <a:rPr lang="en-IN" dirty="0"/>
              <a:t> – Generates interview preparation roadmaps, mock interview questions, feedback, and career guidance.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Prompt Component</a:t>
            </a:r>
            <a:r>
              <a:rPr lang="en-IN" dirty="0"/>
              <a:t> – Defines the agent’s </a:t>
            </a:r>
            <a:r>
              <a:rPr lang="en-IN" dirty="0" err="1"/>
              <a:t>behavior</a:t>
            </a:r>
            <a:r>
              <a:rPr lang="en-IN" dirty="0"/>
              <a:t> and restricts it to interview preparation and career-related assistance.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Chat Output</a:t>
            </a:r>
            <a:r>
              <a:rPr lang="en-IN" dirty="0"/>
              <a:t> – Displays AI-generated responses and interview guidance to the user.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 err="1">
                <a:sym typeface="Times New Roman"/>
              </a:rPr>
              <a:t>Langflow</a:t>
            </a: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dirty="0">
                <a:sym typeface="Times New Roman"/>
              </a:rPr>
              <a:t>workflow -</a:t>
            </a:r>
            <a:endParaRPr sz="2400" b="1" dirty="0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2EDCC-8255-837F-D93F-575D7621EE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758" t="-13090" r="-3239" b="894"/>
          <a:stretch>
            <a:fillRect/>
          </a:stretch>
        </p:blipFill>
        <p:spPr>
          <a:xfrm>
            <a:off x="0" y="250943"/>
            <a:ext cx="12132000" cy="635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73029F-7C0E-F283-1463-A0D1F40E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32" y="0"/>
            <a:ext cx="1220183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Agentic AI</a:t>
            </a:r>
            <a:r>
              <a:rPr lang="en-IN" dirty="0"/>
              <a:t> serves as the core intelligence of the Interview Trainer Agent, enabling the system to deliver </a:t>
            </a:r>
            <a:r>
              <a:rPr lang="en-IN" b="1" dirty="0"/>
              <a:t>personalized</a:t>
            </a:r>
            <a:r>
              <a:rPr lang="en-IN" dirty="0"/>
              <a:t>, </a:t>
            </a:r>
            <a:r>
              <a:rPr lang="en-IN" b="1" dirty="0"/>
              <a:t>adaptive</a:t>
            </a:r>
            <a:r>
              <a:rPr lang="en-IN" dirty="0"/>
              <a:t>, and </a:t>
            </a:r>
            <a:r>
              <a:rPr lang="en-IN" b="1" dirty="0"/>
              <a:t>goal-oriented</a:t>
            </a:r>
            <a:r>
              <a:rPr lang="en-IN" dirty="0"/>
              <a:t> interview preparation support. Unlike traditional chatbots that provide generic responses, the agent understands user objectives, </a:t>
            </a:r>
            <a:r>
              <a:rPr lang="en-IN" dirty="0" err="1"/>
              <a:t>analyzes</a:t>
            </a:r>
            <a:r>
              <a:rPr lang="en-IN" dirty="0"/>
              <a:t> preparation requirements, and generates </a:t>
            </a:r>
            <a:r>
              <a:rPr lang="en-IN" b="1" dirty="0"/>
              <a:t>tailored recommendations</a:t>
            </a:r>
            <a:r>
              <a:rPr lang="en-IN" dirty="0"/>
              <a:t> based on individual needs.</a:t>
            </a:r>
          </a:p>
          <a:p>
            <a:r>
              <a:rPr lang="en-IN" dirty="0"/>
              <a:t>The agent can create </a:t>
            </a:r>
            <a:r>
              <a:rPr lang="en-IN" b="1" dirty="0"/>
              <a:t>customized interview preparation roadmaps</a:t>
            </a:r>
            <a:r>
              <a:rPr lang="en-IN" dirty="0"/>
              <a:t>, recommend relevant technical and </a:t>
            </a:r>
            <a:r>
              <a:rPr lang="en-IN" dirty="0" err="1"/>
              <a:t>behavioral</a:t>
            </a:r>
            <a:r>
              <a:rPr lang="en-IN" dirty="0"/>
              <a:t> topics, conduct </a:t>
            </a:r>
            <a:r>
              <a:rPr lang="en-IN" b="1" dirty="0"/>
              <a:t>interactive mock interviews</a:t>
            </a:r>
            <a:r>
              <a:rPr lang="en-IN" dirty="0"/>
              <a:t>, evaluate user responses, and provide </a:t>
            </a:r>
            <a:r>
              <a:rPr lang="en-IN" b="1" dirty="0"/>
              <a:t>constructive feedback</a:t>
            </a:r>
            <a:r>
              <a:rPr lang="en-IN" dirty="0"/>
              <a:t> for continuous improvement. By maintaining </a:t>
            </a:r>
            <a:r>
              <a:rPr lang="en-IN" b="1" dirty="0"/>
              <a:t>conversation context</a:t>
            </a:r>
            <a:r>
              <a:rPr lang="en-IN" dirty="0"/>
              <a:t> and adapting to user progress, the system ensures a personalized and engaging learning experience.</a:t>
            </a:r>
          </a:p>
          <a:p>
            <a:r>
              <a:rPr lang="en-IN" dirty="0"/>
              <a:t>Through </a:t>
            </a:r>
            <a:r>
              <a:rPr lang="en-IN" b="1" dirty="0"/>
              <a:t>intelligent decision-making</a:t>
            </a:r>
            <a:r>
              <a:rPr lang="en-IN" dirty="0"/>
              <a:t> and </a:t>
            </a:r>
            <a:r>
              <a:rPr lang="en-IN" b="1" dirty="0"/>
              <a:t>contextual understanding</a:t>
            </a:r>
            <a:r>
              <a:rPr lang="en-IN" dirty="0"/>
              <a:t>, Agentic AI transforms the platform into a </a:t>
            </a:r>
            <a:r>
              <a:rPr lang="en-IN" b="1" dirty="0"/>
              <a:t>virtual interview mentor</a:t>
            </a:r>
            <a:r>
              <a:rPr lang="en-IN" dirty="0"/>
              <a:t> that helps users strengthen </a:t>
            </a:r>
            <a:r>
              <a:rPr lang="en-IN" b="1" dirty="0"/>
              <a:t>technical knowledge</a:t>
            </a:r>
            <a:r>
              <a:rPr lang="en-IN" dirty="0"/>
              <a:t>, improve </a:t>
            </a:r>
            <a:r>
              <a:rPr lang="en-IN" b="1" dirty="0"/>
              <a:t>communication skills</a:t>
            </a:r>
            <a:r>
              <a:rPr lang="en-IN" dirty="0"/>
              <a:t>, build </a:t>
            </a:r>
            <a:r>
              <a:rPr lang="en-IN" b="1" dirty="0"/>
              <a:t>confidence</a:t>
            </a:r>
            <a:r>
              <a:rPr lang="en-IN" dirty="0"/>
              <a:t>, and enhance overall </a:t>
            </a:r>
            <a:r>
              <a:rPr lang="en-IN" b="1" dirty="0"/>
              <a:t>interview readiness</a:t>
            </a:r>
            <a:r>
              <a:rPr lang="en-IN" dirty="0"/>
              <a:t>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• </a:t>
            </a:r>
            <a:r>
              <a:rPr lang="en-IN" sz="1800" b="1" dirty="0" err="1"/>
              <a:t>LangFlow</a:t>
            </a:r>
            <a:r>
              <a:rPr lang="en-IN" sz="1800" dirty="0"/>
              <a:t> – Used to design and orchestrate the Interview Trainer Agent workflow through a visual interface.</a:t>
            </a:r>
          </a:p>
          <a:p>
            <a:r>
              <a:rPr lang="en-IN" sz="1800" dirty="0"/>
              <a:t>• </a:t>
            </a:r>
            <a:r>
              <a:rPr lang="en-IN" sz="1800" b="1" dirty="0"/>
              <a:t>IBM watsonx.ai</a:t>
            </a:r>
            <a:r>
              <a:rPr lang="en-IN" sz="1800" dirty="0"/>
              <a:t> – Used to access and deploy AI foundation models for intelligent interview assistance.</a:t>
            </a:r>
          </a:p>
          <a:p>
            <a:r>
              <a:rPr lang="en-IN" sz="1800" dirty="0"/>
              <a:t>• </a:t>
            </a:r>
            <a:r>
              <a:rPr lang="en-IN" sz="1800" b="1" dirty="0"/>
              <a:t>IBM Granite 8B Code Instruct</a:t>
            </a:r>
            <a:r>
              <a:rPr lang="en-IN" sz="1800" dirty="0"/>
              <a:t> – Used for generating interview preparation roadmaps, mock interview questions, answer evaluation, and personalized career guidance.</a:t>
            </a:r>
          </a:p>
          <a:p>
            <a:r>
              <a:rPr lang="en-IN" sz="1800" dirty="0"/>
              <a:t>• </a:t>
            </a:r>
            <a:r>
              <a:rPr lang="en-IN" sz="1800" b="1" dirty="0"/>
              <a:t>Message History Component</a:t>
            </a:r>
            <a:r>
              <a:rPr lang="en-IN" sz="1800" dirty="0"/>
              <a:t> – Used to maintain conversation context and deliver personalized interview preparation support.</a:t>
            </a:r>
          </a:p>
          <a:p>
            <a:r>
              <a:rPr lang="en-IN" sz="1800" dirty="0"/>
              <a:t>• </a:t>
            </a:r>
            <a:r>
              <a:rPr lang="en-IN" sz="1800" b="1" dirty="0"/>
              <a:t>IBM Cloud</a:t>
            </a:r>
            <a:r>
              <a:rPr lang="en-IN" sz="1800" dirty="0"/>
              <a:t> – Provides the cloud infrastructure for accessing and managing AI services.</a:t>
            </a:r>
          </a:p>
          <a:p>
            <a:r>
              <a:rPr lang="en-IN" sz="1800" dirty="0"/>
              <a:t>• </a:t>
            </a:r>
            <a:r>
              <a:rPr lang="en-IN" sz="1800" b="1" dirty="0"/>
              <a:t>GitHub</a:t>
            </a:r>
            <a:r>
              <a:rPr lang="en-IN" sz="1800" dirty="0"/>
              <a:t> – Used for version control, project documentation, and repository management.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639588" y="1079611"/>
            <a:ext cx="1130198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Personalized Interview Coaching</a:t>
            </a:r>
            <a:r>
              <a:rPr lang="en-IN" dirty="0"/>
              <a:t> – Delivers customized interview preparation strategies based on the user’s target role, skills, and experience level.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AI-Driven Preparation Roadmaps</a:t>
            </a:r>
            <a:r>
              <a:rPr lang="en-IN" dirty="0"/>
              <a:t> – Generates structured learning plans to help users prepare efficiently and systematically.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Interactive Mock Interview Experience</a:t>
            </a:r>
            <a:r>
              <a:rPr lang="en-IN" dirty="0"/>
              <a:t> – Simulates real interview scenarios and provides meaningful feedback on user responses.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Context-Aware Guidance</a:t>
            </a:r>
            <a:r>
              <a:rPr lang="en-IN" dirty="0"/>
              <a:t> – Utilizes conversation history to deliver adaptive and personalized recommendations throughout the preparation journey.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Comprehensive Interview Support</a:t>
            </a:r>
            <a:r>
              <a:rPr lang="en-IN" dirty="0"/>
              <a:t> – Assists users in preparing for technical, </a:t>
            </a:r>
            <a:r>
              <a:rPr lang="en-IN" dirty="0" err="1"/>
              <a:t>behavioral</a:t>
            </a:r>
            <a:r>
              <a:rPr lang="en-IN" dirty="0"/>
              <a:t>, and HR interview rounds within a single platform.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Continuous Performance Improvement</a:t>
            </a:r>
            <a:r>
              <a:rPr lang="en-IN" dirty="0"/>
              <a:t> – Identifies areas for improvement and provides targeted suggestions to enhance interview readiness.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Virtual Interview Mentor</a:t>
            </a:r>
            <a:r>
              <a:rPr lang="en-IN" dirty="0"/>
              <a:t> – Functions as an intelligent career preparation assistant rather than a traditional question-answer chatbot.</a:t>
            </a:r>
          </a:p>
          <a:p>
            <a:pPr>
              <a:lnSpc>
                <a:spcPct val="150000"/>
              </a:lnSpc>
            </a:pPr>
            <a:r>
              <a:rPr lang="en-IN" dirty="0"/>
              <a:t>• </a:t>
            </a:r>
            <a:r>
              <a:rPr lang="en-IN" b="1" dirty="0"/>
              <a:t>Powered by IBM Granite Models and watsonx.ai</a:t>
            </a:r>
            <a:r>
              <a:rPr lang="en-IN" dirty="0"/>
              <a:t> – Leverages advanced AI capabilities to deliver reliable, relevant, and interview-focused guidance.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651344" y="1019111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IN" sz="1850" dirty="0" err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IN" sz="185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Repository: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IN" sz="185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https://github.com/Uma513/Interview-Trainer-Agent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IN" sz="2000" dirty="0"/>
              <a:t>• </a:t>
            </a:r>
            <a:r>
              <a:rPr lang="en-IN" sz="2000" b="1" dirty="0"/>
              <a:t>AI-Powered Interview Analytics</a:t>
            </a:r>
            <a:r>
              <a:rPr lang="en-IN" sz="2000" dirty="0"/>
              <a:t> – Provide detailed performance insights, identify improvement areas, and measure interview readiness through intelligent assessment.</a:t>
            </a:r>
          </a:p>
          <a:p>
            <a:r>
              <a:rPr lang="en-IN" sz="2000" dirty="0"/>
              <a:t>• </a:t>
            </a:r>
            <a:r>
              <a:rPr lang="en-IN" sz="2000" b="1" dirty="0"/>
              <a:t>Voice-Based Interview Simulation</a:t>
            </a:r>
            <a:r>
              <a:rPr lang="en-IN" sz="2000" dirty="0"/>
              <a:t> – Enable real-time interview practice with speech interaction, communication analysis, and confidence evaluation.</a:t>
            </a:r>
          </a:p>
          <a:p>
            <a:r>
              <a:rPr lang="en-IN" sz="2000" dirty="0"/>
              <a:t>• </a:t>
            </a:r>
            <a:r>
              <a:rPr lang="en-IN" sz="2000" b="1" dirty="0"/>
              <a:t>Company and Role-Specific Preparation</a:t>
            </a:r>
            <a:r>
              <a:rPr lang="en-IN" sz="2000" dirty="0"/>
              <a:t> – Deliver customized interview strategies, question sets, and preparation plans tailored to specific job roles and organizations.</a:t>
            </a:r>
          </a:p>
          <a:p>
            <a:r>
              <a:rPr lang="en-IN" sz="2000" dirty="0"/>
              <a:t>• </a:t>
            </a:r>
            <a:r>
              <a:rPr lang="en-IN" sz="2000" b="1" dirty="0"/>
              <a:t>Intelligent Career Development Assistant</a:t>
            </a:r>
            <a:r>
              <a:rPr lang="en-IN" sz="2000" dirty="0"/>
              <a:t> – Expand the platform beyond interview preparation by offering skill-gap analysis, learning recommendations, and long-term career guidance.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97FA-4930-D50F-B505-7E4DACC91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6982"/>
            <a:ext cx="10515600" cy="481779"/>
          </a:xfrm>
        </p:spPr>
        <p:txBody>
          <a:bodyPr>
            <a:noAutofit/>
          </a:bodyPr>
          <a:lstStyle/>
          <a:p>
            <a:r>
              <a:rPr lang="en-IN" sz="3200" dirty="0"/>
              <a:t>IBM watsonx.ai Usage Evidence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CFCF2-FB23-7191-E4A5-217BF58B6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855407"/>
            <a:ext cx="10515600" cy="5234244"/>
          </a:xfrm>
        </p:spPr>
        <p:txBody>
          <a:bodyPr/>
          <a:lstStyle/>
          <a:p>
            <a:r>
              <a:rPr lang="en-IN" dirty="0">
                <a:solidFill>
                  <a:schemeClr val="tx1"/>
                </a:solidFill>
              </a:rPr>
              <a:t>IBM watsonx.ai resource usage dashboard showing token consumption during project 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EADF31-B1A9-D137-5ECE-249978300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445" y="1818967"/>
            <a:ext cx="11267767" cy="48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025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1289</Words>
  <Application>Microsoft Office PowerPoint</Application>
  <PresentationFormat>Widescreen</PresentationFormat>
  <Paragraphs>112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watsonx.ai Usage Evidence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Uma Nakka</cp:lastModifiedBy>
  <cp:revision>24</cp:revision>
  <dcterms:created xsi:type="dcterms:W3CDTF">2025-07-08T05:06:56Z</dcterms:created>
  <dcterms:modified xsi:type="dcterms:W3CDTF">2026-06-05T13:42:44Z</dcterms:modified>
</cp:coreProperties>
</file>